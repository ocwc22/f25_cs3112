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7" r:id="rId2"/>
    <p:sldId id="37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80" r:id="rId83"/>
    <p:sldId id="382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83" r:id="rId124"/>
    <p:sldId id="384" r:id="rId125"/>
    <p:sldId id="385" r:id="rId1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1" y="1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6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8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7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7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9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3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4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8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2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6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6C0C1-EB9B-4555-BA94-3F42EB7DF646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53C3-55FD-4008-8035-9F9B355D2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1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9600" dirty="0" err="1"/>
              <a:t>Heapsort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98178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1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4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-12701"/>
            <a:ext cx="9494927" cy="68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9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49" y="12699"/>
            <a:ext cx="9545702" cy="6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4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-12701"/>
            <a:ext cx="9494927" cy="68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80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12699"/>
            <a:ext cx="9494927" cy="6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0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49" y="-6351"/>
            <a:ext cx="9545702" cy="68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36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-1"/>
            <a:ext cx="949492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80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25399"/>
            <a:ext cx="949492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38099"/>
            <a:ext cx="9494927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98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49" y="25399"/>
            <a:ext cx="954570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19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7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9049"/>
            <a:ext cx="9444152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52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6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7149"/>
            <a:ext cx="9444152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8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19049"/>
            <a:ext cx="949492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7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44449"/>
            <a:ext cx="9494927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24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19049"/>
            <a:ext cx="949492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24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31749"/>
            <a:ext cx="949492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97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31749"/>
            <a:ext cx="949492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20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133349"/>
            <a:ext cx="9494927" cy="65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15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44449"/>
            <a:ext cx="9444152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22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25399"/>
            <a:ext cx="949492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2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9049"/>
            <a:ext cx="9444152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5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6349"/>
            <a:ext cx="9494927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8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66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08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-6351"/>
            <a:ext cx="9393377" cy="68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3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61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6349"/>
            <a:ext cx="9444152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64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9049"/>
            <a:ext cx="9444152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28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9049"/>
            <a:ext cx="9444152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86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-12701"/>
            <a:ext cx="9444152" cy="68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99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19049"/>
            <a:ext cx="939337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53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93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34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44449"/>
            <a:ext cx="9494927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9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41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6349"/>
            <a:ext cx="9494927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06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12699"/>
            <a:ext cx="9494927" cy="6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6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6349"/>
            <a:ext cx="9444152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254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25399"/>
            <a:ext cx="939337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52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7149"/>
            <a:ext cx="9444152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96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7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0799"/>
            <a:ext cx="9444152" cy="67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101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2699"/>
            <a:ext cx="9444152" cy="6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20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44449"/>
            <a:ext cx="9444152" cy="67691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204111"/>
            <a:ext cx="5395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Assumes that the trees Left(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) and Right(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) are max-heaps, but that A[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] might be smaller than its children.</a:t>
            </a:r>
          </a:p>
        </p:txBody>
      </p:sp>
    </p:spTree>
    <p:extLst>
      <p:ext uri="{BB962C8B-B14F-4D97-AF65-F5344CB8AC3E}">
        <p14:creationId xmlns:p14="http://schemas.microsoft.com/office/powerpoint/2010/main" val="16266552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8099"/>
            <a:ext cx="9393377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131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87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0799"/>
            <a:ext cx="10396318" cy="67564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267" y="1141444"/>
            <a:ext cx="3593804" cy="43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014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267" y="1141445"/>
            <a:ext cx="3593804" cy="28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5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712894-20C1-460C-B536-C1A65AC0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267" y="1141445"/>
            <a:ext cx="3593804" cy="28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783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69849"/>
            <a:ext cx="9444152" cy="67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786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39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7149"/>
            <a:ext cx="9444152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50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44449"/>
            <a:ext cx="9444152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3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4" y="0"/>
            <a:ext cx="9393377" cy="67945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90" y="1041991"/>
            <a:ext cx="3713754" cy="354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921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009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76199"/>
            <a:ext cx="9393377" cy="67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07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446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44449"/>
            <a:ext cx="9393377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50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588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19049"/>
            <a:ext cx="939337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694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879" y="1323753"/>
            <a:ext cx="4225312" cy="37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976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-1"/>
            <a:ext cx="9444152" cy="68580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000" y="1366283"/>
            <a:ext cx="4225312" cy="37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799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44449"/>
            <a:ext cx="9444152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946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36" y="25399"/>
            <a:ext cx="949492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660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50799"/>
            <a:ext cx="9393377" cy="67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692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1749"/>
            <a:ext cx="939337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372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712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14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485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-1"/>
            <a:ext cx="944415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98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20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678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44152" cy="67945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75" y="806007"/>
            <a:ext cx="4349937" cy="59884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775" y="3991343"/>
            <a:ext cx="4006151" cy="280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87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158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1865-0506-43F8-8B44-515670AA3900}" type="slidenum">
              <a:rPr lang="en-US" smtClean="0"/>
              <a:t>82</a:t>
            </a:fld>
            <a:endParaRPr lang="en-US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2438400" y="28575"/>
            <a:ext cx="6400800" cy="5334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Build-Max-Heap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734" y="397940"/>
            <a:ext cx="4028088" cy="276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70" y="3215166"/>
            <a:ext cx="4006151" cy="2803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802B9-0550-ACDA-4D5F-CF5713F9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27" y="3099304"/>
            <a:ext cx="7145138" cy="3034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F18F15-CD0B-ADAA-21C6-714801526B4B}"/>
              </a:ext>
            </a:extLst>
          </p:cNvPr>
          <p:cNvSpPr txBox="1"/>
          <p:nvPr/>
        </p:nvSpPr>
        <p:spPr>
          <a:xfrm>
            <a:off x="187568" y="723816"/>
            <a:ext cx="7080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-Bold"/>
              </a:rPr>
              <a:t>Loop invariant: </a:t>
            </a:r>
            <a:r>
              <a:rPr lang="en-US" sz="2400" b="0" i="0" u="none" strike="noStrike" baseline="0" dirty="0">
                <a:latin typeface="Times-Roman"/>
              </a:rPr>
              <a:t>At the start of every iteration of </a:t>
            </a:r>
            <a:r>
              <a:rPr lang="en-US" sz="2400" b="1" i="0" u="none" strike="noStrike" baseline="0" dirty="0">
                <a:latin typeface="Times-Bold"/>
              </a:rPr>
              <a:t>for </a:t>
            </a:r>
            <a:r>
              <a:rPr lang="en-US" sz="2400" b="0" i="0" u="none" strike="noStrike" baseline="0" dirty="0">
                <a:latin typeface="Times-Roman"/>
              </a:rPr>
              <a:t>loop, each node </a:t>
            </a:r>
            <a:r>
              <a:rPr lang="en-US" sz="2400" b="0" i="0" u="none" strike="noStrike" baseline="0" dirty="0" err="1">
                <a:latin typeface="MT2MIT"/>
              </a:rPr>
              <a:t>i</a:t>
            </a:r>
            <a:r>
              <a:rPr lang="en-US" sz="2400" b="0" i="0" u="none" strike="noStrike" baseline="0" dirty="0">
                <a:latin typeface="MT2MIT"/>
              </a:rPr>
              <a:t> </a:t>
            </a:r>
            <a:r>
              <a:rPr lang="en-US" sz="2400" dirty="0">
                <a:latin typeface="MT2SYT"/>
              </a:rPr>
              <a:t>+</a:t>
            </a:r>
            <a:r>
              <a:rPr lang="en-US" sz="2400" b="0" i="0" u="none" strike="noStrike" baseline="0" dirty="0">
                <a:latin typeface="MT2SYT"/>
              </a:rPr>
              <a:t> </a:t>
            </a:r>
            <a:r>
              <a:rPr lang="en-US" sz="2400" b="0" i="0" u="none" strike="noStrike" baseline="0" dirty="0">
                <a:latin typeface="MT2MIT"/>
              </a:rPr>
              <a:t>1</a:t>
            </a:r>
            <a:r>
              <a:rPr lang="en-US" sz="2400" b="0" i="0" u="none" strike="noStrike" baseline="0" dirty="0">
                <a:latin typeface="Times-Roman"/>
              </a:rPr>
              <a:t>, </a:t>
            </a:r>
            <a:r>
              <a:rPr lang="en-US" sz="2400" b="0" i="0" u="none" strike="noStrike" baseline="0" dirty="0" err="1">
                <a:latin typeface="MT2MIT"/>
              </a:rPr>
              <a:t>i</a:t>
            </a:r>
            <a:r>
              <a:rPr lang="en-US" sz="2400" b="0" i="0" u="none" strike="noStrike" baseline="0" dirty="0">
                <a:latin typeface="MT2MIT"/>
              </a:rPr>
              <a:t> </a:t>
            </a:r>
            <a:r>
              <a:rPr lang="en-US" sz="2400" dirty="0">
                <a:latin typeface="MT2SYT"/>
              </a:rPr>
              <a:t>+</a:t>
            </a:r>
            <a:r>
              <a:rPr lang="en-US" sz="2400" b="0" i="0" u="none" strike="noStrike" baseline="0" dirty="0">
                <a:latin typeface="MT2SYT"/>
              </a:rPr>
              <a:t> </a:t>
            </a:r>
            <a:r>
              <a:rPr lang="en-US" sz="2400" b="0" i="0" u="none" strike="noStrike" baseline="0" dirty="0">
                <a:latin typeface="MT2MIT"/>
              </a:rPr>
              <a:t>2</a:t>
            </a:r>
            <a:r>
              <a:rPr lang="en-US" sz="2400" b="0" i="0" u="none" strike="noStrike" baseline="0" dirty="0">
                <a:latin typeface="Times-Roman"/>
              </a:rPr>
              <a:t>, . . . , </a:t>
            </a:r>
            <a:r>
              <a:rPr lang="en-US" sz="2400" b="0" i="0" u="none" strike="noStrike" baseline="0" dirty="0">
                <a:latin typeface="MT2MIT"/>
              </a:rPr>
              <a:t>n </a:t>
            </a:r>
            <a:r>
              <a:rPr lang="en-US" sz="2400" b="0" i="0" u="none" strike="noStrike" baseline="0" dirty="0">
                <a:latin typeface="Times-Roman"/>
              </a:rPr>
              <a:t>is the root of a max-heap.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14777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1865-0506-43F8-8B44-515670AA3900}" type="slidenum">
              <a:rPr lang="en-US" smtClean="0"/>
              <a:t>83</a:t>
            </a:fld>
            <a:endParaRPr lang="en-US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2438400" y="28575"/>
            <a:ext cx="6400800" cy="5334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Build-Max-Heap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6" y="561975"/>
            <a:ext cx="7000875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557404" y="4117675"/>
                <a:ext cx="2518913" cy="914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   for |x|&lt;1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404" y="4117675"/>
                <a:ext cx="2518913" cy="914802"/>
              </a:xfrm>
              <a:prstGeom prst="rect">
                <a:avLst/>
              </a:prstGeom>
              <a:blipFill>
                <a:blip r:embed="rId3"/>
                <a:stretch>
                  <a:fillRect b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501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31749"/>
            <a:ext cx="934260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775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19049"/>
            <a:ext cx="939337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189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2699"/>
            <a:ext cx="9444152" cy="6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666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235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6349"/>
            <a:ext cx="9393377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553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1749"/>
            <a:ext cx="9444152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658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7149"/>
            <a:ext cx="9444152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330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696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1749"/>
            <a:ext cx="939337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107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57149"/>
            <a:ext cx="9444152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076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19049"/>
            <a:ext cx="9444152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27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76199"/>
            <a:ext cx="9444152" cy="67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416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63499"/>
            <a:ext cx="9393377" cy="67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896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76199"/>
            <a:ext cx="9342602" cy="67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34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38099"/>
            <a:ext cx="934260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047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44449"/>
            <a:ext cx="9393377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275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86" y="50799"/>
            <a:ext cx="9291827" cy="67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346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63499"/>
            <a:ext cx="9393377" cy="67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564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82549"/>
            <a:ext cx="9393377" cy="66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076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1749"/>
            <a:ext cx="939337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700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86" y="25399"/>
            <a:ext cx="929182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037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101599"/>
            <a:ext cx="9393377" cy="665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1331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-1"/>
            <a:ext cx="93426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870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50799"/>
            <a:ext cx="9393377" cy="67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8932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44449"/>
            <a:ext cx="9342602" cy="67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89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86" y="63499"/>
            <a:ext cx="9291827" cy="67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726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57149"/>
            <a:ext cx="9393377" cy="67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7580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1749"/>
            <a:ext cx="939337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4867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25399"/>
            <a:ext cx="9444152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418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8099"/>
            <a:ext cx="9393377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71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19049"/>
            <a:ext cx="9393377" cy="6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4928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86" y="63499"/>
            <a:ext cx="9291827" cy="67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131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25399"/>
            <a:ext cx="9393377" cy="68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010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50799"/>
            <a:ext cx="9342602" cy="6756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C1956-F24D-9653-4E0D-9AF4948DE118}"/>
              </a:ext>
            </a:extLst>
          </p:cNvPr>
          <p:cNvSpPr txBox="1"/>
          <p:nvPr/>
        </p:nvSpPr>
        <p:spPr>
          <a:xfrm>
            <a:off x="1894114" y="4609321"/>
            <a:ext cx="327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      Return max</a:t>
            </a:r>
          </a:p>
        </p:txBody>
      </p:sp>
    </p:spTree>
    <p:extLst>
      <p:ext uri="{BB962C8B-B14F-4D97-AF65-F5344CB8AC3E}">
        <p14:creationId xmlns:p14="http://schemas.microsoft.com/office/powerpoint/2010/main" val="11438593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82549"/>
            <a:ext cx="9393377" cy="66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5880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4" y="38099"/>
            <a:ext cx="944415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3094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50799"/>
            <a:ext cx="9393377" cy="67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545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11" y="31749"/>
            <a:ext cx="9393377" cy="67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7681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99" y="63499"/>
            <a:ext cx="9342602" cy="67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592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D9BF1E-F869-662C-028A-B280233A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88" y="0"/>
            <a:ext cx="9803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178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D3B81-D03A-E845-152C-CEB10749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29" y="1185548"/>
            <a:ext cx="8765059" cy="385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4006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1CDBD-9336-4058-934B-172A87D23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92" y="356286"/>
            <a:ext cx="7710616" cy="61454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32D73-C1C5-E1D5-76CB-A0207606E372}"/>
              </a:ext>
            </a:extLst>
          </p:cNvPr>
          <p:cNvSpPr txBox="1"/>
          <p:nvPr/>
        </p:nvSpPr>
        <p:spPr>
          <a:xfrm>
            <a:off x="2123268" y="2572719"/>
            <a:ext cx="38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241787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82</Words>
  <Application>Microsoft Office PowerPoint</Application>
  <PresentationFormat>Widescreen</PresentationFormat>
  <Paragraphs>12</Paragraphs>
  <Slides>125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4" baseType="lpstr">
      <vt:lpstr>Arial</vt:lpstr>
      <vt:lpstr>Calibri</vt:lpstr>
      <vt:lpstr>Calibri Light</vt:lpstr>
      <vt:lpstr>Cambria Math</vt:lpstr>
      <vt:lpstr>MT2MIT</vt:lpstr>
      <vt:lpstr>MT2SYT</vt:lpstr>
      <vt:lpstr>Times-Bold</vt:lpstr>
      <vt:lpstr>Times-Roman</vt:lpstr>
      <vt:lpstr>Office Theme</vt:lpstr>
      <vt:lpstr>Chapter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 State L.A.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Behzad Parviz</dc:creator>
  <cp:lastModifiedBy>Parviz, Behzad</cp:lastModifiedBy>
  <cp:revision>31</cp:revision>
  <dcterms:created xsi:type="dcterms:W3CDTF">2015-04-28T03:06:54Z</dcterms:created>
  <dcterms:modified xsi:type="dcterms:W3CDTF">2022-08-07T22:27:51Z</dcterms:modified>
</cp:coreProperties>
</file>